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B1E3D"/>
                </a:solidFill>
                <a:latin typeface="Arial"/>
              </a:defRPr>
            </a:pPr>
            <a:r>
              <a:rPr lang="en-GB" sz="1300" b="1" i="0" u="none" strike="noStrike">
                <a:solidFill>
                  <a:srgbClr val="0B1E3D"/>
                </a:solidFill>
                <a:latin typeface="Arial"/>
              </a:rPr>
              <a:t>Monthly Appointment Volume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Appointments</c:v>
                </c:pt>
              </c:strCache>
            </c:strRef>
          </c:tx>
          <c:spPr>
            <a:solidFill>
              <a:srgbClr val="1A5C9A"/>
            </a:solidFill>
            <a:effectLst/>
          </c:spPr>
          <c:invertIfNegative val="0"/>
          <c:cat>
            <c:strRef>
              <c:f>Sheet1!$A$2:$A$20</c:f>
              <c:strCache>
                <c:ptCount val="19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  <c:pt idx="13">
                  <c:v>Jul</c:v>
                </c:pt>
                <c:pt idx="14">
                  <c:v>Aug</c:v>
                </c:pt>
                <c:pt idx="15">
                  <c:v>Sep</c:v>
                </c:pt>
                <c:pt idx="16">
                  <c:v>Oct</c:v>
                </c:pt>
                <c:pt idx="17">
                  <c:v>Nov</c:v>
                </c:pt>
                <c:pt idx="18">
                  <c:v>Dec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180</c:v>
                </c:pt>
                <c:pt idx="1">
                  <c:v>195</c:v>
                </c:pt>
                <c:pt idx="2">
                  <c:v>210</c:v>
                </c:pt>
                <c:pt idx="3">
                  <c:v>175</c:v>
                </c:pt>
                <c:pt idx="4">
                  <c:v>190</c:v>
                </c:pt>
                <c:pt idx="5">
                  <c:v>185</c:v>
                </c:pt>
                <c:pt idx="6">
                  <c:v>160</c:v>
                </c:pt>
                <c:pt idx="7">
                  <c:v>220</c:v>
                </c:pt>
                <c:pt idx="8">
                  <c:v>215</c:v>
                </c:pt>
                <c:pt idx="9">
                  <c:v>205</c:v>
                </c:pt>
                <c:pt idx="10">
                  <c:v>195</c:v>
                </c:pt>
                <c:pt idx="11">
                  <c:v>200</c:v>
                </c:pt>
                <c:pt idx="12">
                  <c:v>210</c:v>
                </c:pt>
                <c:pt idx="13">
                  <c:v>225</c:v>
                </c:pt>
                <c:pt idx="14">
                  <c:v>215</c:v>
                </c:pt>
                <c:pt idx="15">
                  <c:v>205</c:v>
                </c:pt>
                <c:pt idx="16">
                  <c:v>190</c:v>
                </c:pt>
                <c:pt idx="17">
                  <c:v>185</c:v>
                </c:pt>
                <c:pt idx="18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F8-48F6-82B6-D185BD52E6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B1E3D"/>
                </a:solidFill>
                <a:latin typeface="Arial"/>
              </a:defRPr>
            </a:pPr>
            <a:r>
              <a:rPr lang="en-GB" sz="1300" b="1" i="0" u="none" strike="noStrike">
                <a:solidFill>
                  <a:srgbClr val="0B1E3D"/>
                </a:solidFill>
                <a:latin typeface="Arial"/>
              </a:rPr>
              <a:t>Monthly Revenue (AED 000s)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(AED)</c:v>
                </c:pt>
              </c:strCache>
            </c:strRef>
          </c:tx>
          <c:spPr>
            <a:ln w="38100" cap="flat">
              <a:solidFill>
                <a:srgbClr val="0D737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  <c:pt idx="13">
                  <c:v>Jul</c:v>
                </c:pt>
                <c:pt idx="14">
                  <c:v>Aug</c:v>
                </c:pt>
                <c:pt idx="15">
                  <c:v>Sep</c:v>
                </c:pt>
                <c:pt idx="16">
                  <c:v>Oct</c:v>
                </c:pt>
                <c:pt idx="17">
                  <c:v>Nov</c:v>
                </c:pt>
                <c:pt idx="18">
                  <c:v>Dec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28</c:v>
                </c:pt>
                <c:pt idx="1">
                  <c:v>31</c:v>
                </c:pt>
                <c:pt idx="2">
                  <c:v>34</c:v>
                </c:pt>
                <c:pt idx="3">
                  <c:v>27</c:v>
                </c:pt>
                <c:pt idx="4">
                  <c:v>31</c:v>
                </c:pt>
                <c:pt idx="5">
                  <c:v>30</c:v>
                </c:pt>
                <c:pt idx="6">
                  <c:v>25</c:v>
                </c:pt>
                <c:pt idx="7">
                  <c:v>36</c:v>
                </c:pt>
                <c:pt idx="8">
                  <c:v>34</c:v>
                </c:pt>
                <c:pt idx="9">
                  <c:v>33</c:v>
                </c:pt>
                <c:pt idx="10">
                  <c:v>31</c:v>
                </c:pt>
                <c:pt idx="11">
                  <c:v>32</c:v>
                </c:pt>
                <c:pt idx="12">
                  <c:v>34</c:v>
                </c:pt>
                <c:pt idx="13">
                  <c:v>36</c:v>
                </c:pt>
                <c:pt idx="14">
                  <c:v>35</c:v>
                </c:pt>
                <c:pt idx="15">
                  <c:v>33</c:v>
                </c:pt>
                <c:pt idx="16">
                  <c:v>31</c:v>
                </c:pt>
                <c:pt idx="17">
                  <c:v>30</c:v>
                </c:pt>
                <c:pt idx="18">
                  <c:v>27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F7C-4723-9F5B-2F9BE03685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B1E3D"/>
                </a:solidFill>
                <a:latin typeface="Arial"/>
              </a:defRPr>
            </a:pPr>
            <a:r>
              <a:rPr lang="en-US" sz="1200" b="1" i="0" u="none" strike="noStrike">
                <a:solidFill>
                  <a:srgbClr val="0B1E3D"/>
                </a:solidFill>
                <a:latin typeface="Arial"/>
              </a:rPr>
              <a:t>Revenue by Specialty (AED 000s)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(AED)</c:v>
                </c:pt>
              </c:strCache>
            </c:strRef>
          </c:tx>
          <c:spPr>
            <a:solidFill>
              <a:srgbClr val="1A5C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Cardiology</c:v>
                </c:pt>
                <c:pt idx="1">
                  <c:v>Orthopedics</c:v>
                </c:pt>
                <c:pt idx="2">
                  <c:v>Gynecology</c:v>
                </c:pt>
                <c:pt idx="3">
                  <c:v>Dermatology</c:v>
                </c:pt>
                <c:pt idx="4">
                  <c:v>ENT</c:v>
                </c:pt>
                <c:pt idx="5">
                  <c:v>General Practice</c:v>
                </c:pt>
                <c:pt idx="6">
                  <c:v>Pediatrics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145</c:v>
                </c:pt>
                <c:pt idx="1">
                  <c:v>112</c:v>
                </c:pt>
                <c:pt idx="2">
                  <c:v>98</c:v>
                </c:pt>
                <c:pt idx="3">
                  <c:v>86</c:v>
                </c:pt>
                <c:pt idx="4">
                  <c:v>78</c:v>
                </c:pt>
                <c:pt idx="5">
                  <c:v>72</c:v>
                </c:pt>
                <c:pt idx="6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2A-4387-ACA1-FECB6C5E0B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B1E3D"/>
                </a:solidFill>
                <a:latin typeface="Arial"/>
              </a:defRPr>
            </a:pPr>
            <a:r>
              <a:rPr lang="en-GB" sz="1200" b="1" i="0" u="none" strike="noStrike">
                <a:solidFill>
                  <a:srgbClr val="0B1E3D"/>
                </a:solidFill>
                <a:latin typeface="Arial"/>
              </a:rPr>
              <a:t>No-Show Rate by Specialty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%</c:v>
                </c:pt>
              </c:strCache>
            </c:strRef>
          </c:tx>
          <c:spPr>
            <a:solidFill>
              <a:srgbClr val="C8860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Cardiology</c:v>
                </c:pt>
                <c:pt idx="1">
                  <c:v>Orthopedics</c:v>
                </c:pt>
                <c:pt idx="2">
                  <c:v>Gynecology</c:v>
                </c:pt>
                <c:pt idx="3">
                  <c:v>Dermatology</c:v>
                </c:pt>
                <c:pt idx="4">
                  <c:v>ENT</c:v>
                </c:pt>
                <c:pt idx="5">
                  <c:v>General Practice</c:v>
                </c:pt>
                <c:pt idx="6">
                  <c:v>Pediatrics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18.2</c:v>
                </c:pt>
                <c:pt idx="1">
                  <c:v>19.8</c:v>
                </c:pt>
                <c:pt idx="2">
                  <c:v>21.3</c:v>
                </c:pt>
                <c:pt idx="3">
                  <c:v>20.100000000000001</c:v>
                </c:pt>
                <c:pt idx="4">
                  <c:v>17.899999999999999</c:v>
                </c:pt>
                <c:pt idx="5">
                  <c:v>22.4</c:v>
                </c:pt>
                <c:pt idx="6">
                  <c:v>16.8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A4-43B5-8E96-82848C66DF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B1E3D"/>
                </a:solidFill>
                <a:latin typeface="Arial"/>
              </a:defRPr>
            </a:pPr>
            <a:r>
              <a:rPr lang="en-GB" sz="1200" b="1" i="0" u="none" strike="noStrike">
                <a:solidFill>
                  <a:srgbClr val="0B1E3D"/>
                </a:solidFill>
                <a:latin typeface="Arial"/>
              </a:rPr>
              <a:t>Appointment Volume Share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Appointments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C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AE4-4BD6-8AB1-4C82ED6859CC}"/>
              </c:ext>
            </c:extLst>
          </c:dPt>
          <c:dPt>
            <c:idx val="1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E4-4BD6-8AB1-4C82ED6859CC}"/>
              </c:ext>
            </c:extLst>
          </c:dPt>
          <c:dPt>
            <c:idx val="2"/>
            <c:bubble3D val="0"/>
            <c:spPr>
              <a:solidFill>
                <a:srgbClr val="1A73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E4-4BD6-8AB1-4C82ED6859CC}"/>
              </c:ext>
            </c:extLst>
          </c:dPt>
          <c:dPt>
            <c:idx val="3"/>
            <c:bubble3D val="0"/>
            <c:spPr>
              <a:solidFill>
                <a:srgbClr val="C886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AE4-4BD6-8AB1-4C82ED6859CC}"/>
              </c:ext>
            </c:extLst>
          </c:dPt>
          <c:dPt>
            <c:idx val="4"/>
            <c:bubble3D val="0"/>
            <c:spPr>
              <a:solidFill>
                <a:srgbClr val="B03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AE4-4BD6-8AB1-4C82ED6859CC}"/>
              </c:ext>
            </c:extLst>
          </c:dPt>
          <c:dPt>
            <c:idx val="5"/>
            <c:bubble3D val="0"/>
            <c:spPr>
              <a:solidFill>
                <a:srgbClr val="6B2D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AE4-4BD6-8AB1-4C82ED6859CC}"/>
              </c:ext>
            </c:extLst>
          </c:dPt>
          <c:dPt>
            <c:idx val="6"/>
            <c:bubble3D val="0"/>
            <c:spPr>
              <a:solidFill>
                <a:srgbClr val="D44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AE4-4BD6-8AB1-4C82ED6859C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AE4-4BD6-8AB1-4C82ED6859C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AE4-4BD6-8AB1-4C82ED6859C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AE4-4BD6-8AB1-4C82ED6859C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AE4-4BD6-8AB1-4C82ED6859CC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AE4-4BD6-8AB1-4C82ED6859CC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AE4-4BD6-8AB1-4C82ED6859CC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AE4-4BD6-8AB1-4C82ED6859C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Cardiology</c:v>
                </c:pt>
                <c:pt idx="1">
                  <c:v>Orthopedics</c:v>
                </c:pt>
                <c:pt idx="2">
                  <c:v>Gynecology</c:v>
                </c:pt>
                <c:pt idx="3">
                  <c:v>Dermatology</c:v>
                </c:pt>
                <c:pt idx="4">
                  <c:v>ENT</c:v>
                </c:pt>
                <c:pt idx="5">
                  <c:v>General Practice</c:v>
                </c:pt>
                <c:pt idx="6">
                  <c:v>Pediatrics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363</c:v>
                </c:pt>
                <c:pt idx="1">
                  <c:v>320</c:v>
                </c:pt>
                <c:pt idx="2">
                  <c:v>327</c:v>
                </c:pt>
                <c:pt idx="3">
                  <c:v>344</c:v>
                </c:pt>
                <c:pt idx="4">
                  <c:v>355</c:v>
                </c:pt>
                <c:pt idx="5">
                  <c:v>480</c:v>
                </c:pt>
                <c:pt idx="6">
                  <c:v>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AE4-4BD6-8AB1-4C82ED6859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B1E3D"/>
                </a:solidFill>
                <a:latin typeface="Arial"/>
              </a:defRPr>
            </a:pPr>
            <a:r>
              <a:rPr lang="en-US" sz="1200" b="1" i="0" u="none" strike="noStrike">
                <a:solidFill>
                  <a:srgbClr val="0B1E3D"/>
                </a:solidFill>
                <a:latin typeface="Arial"/>
              </a:rPr>
              <a:t>Average SLA Met Rate (%) — Top &amp; Bottom 5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SLA %</c:v>
                </c:pt>
              </c:strCache>
            </c:strRef>
          </c:tx>
          <c:spPr>
            <a:solidFill>
              <a:srgbClr val="1A734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91A-469E-9153-6BBBCA1B69F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91A-469E-9153-6BBBCA1B69F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91A-469E-9153-6BBBCA1B69F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91A-469E-9153-6BBBCA1B69F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91A-469E-9153-6BBBCA1B69FE}"/>
              </c:ext>
            </c:extLst>
          </c:dPt>
          <c:dPt>
            <c:idx val="5"/>
            <c:invertIfNegative val="0"/>
            <c:bubble3D val="0"/>
            <c:spPr>
              <a:solidFill>
                <a:srgbClr val="C886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91A-469E-9153-6BBBCA1B69FE}"/>
              </c:ext>
            </c:extLst>
          </c:dPt>
          <c:dPt>
            <c:idx val="6"/>
            <c:invertIfNegative val="0"/>
            <c:bubble3D val="0"/>
            <c:spPr>
              <a:solidFill>
                <a:srgbClr val="C886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91A-469E-9153-6BBBCA1B69FE}"/>
              </c:ext>
            </c:extLst>
          </c:dPt>
          <c:dPt>
            <c:idx val="7"/>
            <c:invertIfNegative val="0"/>
            <c:bubble3D val="0"/>
            <c:spPr>
              <a:solidFill>
                <a:srgbClr val="C886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91A-469E-9153-6BBBCA1B69FE}"/>
              </c:ext>
            </c:extLst>
          </c:dPt>
          <c:dPt>
            <c:idx val="8"/>
            <c:invertIfNegative val="0"/>
            <c:bubble3D val="0"/>
            <c:spPr>
              <a:solidFill>
                <a:srgbClr val="C886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91A-469E-9153-6BBBCA1B69FE}"/>
              </c:ext>
            </c:extLst>
          </c:dPt>
          <c:dPt>
            <c:idx val="9"/>
            <c:invertIfNegative val="0"/>
            <c:bubble3D val="0"/>
            <c:spPr>
              <a:solidFill>
                <a:srgbClr val="B03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291A-469E-9153-6BBBCA1B69F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Staff_01</c:v>
                </c:pt>
                <c:pt idx="1">
                  <c:v>Staff_04</c:v>
                </c:pt>
                <c:pt idx="2">
                  <c:v>Staff_07</c:v>
                </c:pt>
                <c:pt idx="3">
                  <c:v>Staff_12</c:v>
                </c:pt>
                <c:pt idx="4">
                  <c:v>Staff_15</c:v>
                </c:pt>
                <c:pt idx="5">
                  <c:v>Staff_03</c:v>
                </c:pt>
                <c:pt idx="6">
                  <c:v>Staff_09</c:v>
                </c:pt>
                <c:pt idx="7">
                  <c:v>Staff_16</c:v>
                </c:pt>
                <c:pt idx="8">
                  <c:v>Staff_18</c:v>
                </c:pt>
                <c:pt idx="9">
                  <c:v>Staff_20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96.2</c:v>
                </c:pt>
                <c:pt idx="1">
                  <c:v>94.8</c:v>
                </c:pt>
                <c:pt idx="2">
                  <c:v>93.1</c:v>
                </c:pt>
                <c:pt idx="3">
                  <c:v>91.7</c:v>
                </c:pt>
                <c:pt idx="4">
                  <c:v>90.3</c:v>
                </c:pt>
                <c:pt idx="5">
                  <c:v>88.4</c:v>
                </c:pt>
                <c:pt idx="6">
                  <c:v>86.1</c:v>
                </c:pt>
                <c:pt idx="7">
                  <c:v>83.7</c:v>
                </c:pt>
                <c:pt idx="8">
                  <c:v>81.2</c:v>
                </c:pt>
                <c:pt idx="9">
                  <c:v>78.5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291A-469E-9153-6BBBCA1B69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B1E3D"/>
                </a:solidFill>
                <a:latin typeface="Arial"/>
              </a:defRPr>
            </a:pPr>
            <a:r>
              <a:rPr lang="en-US" sz="1200" b="1" i="0" u="none" strike="noStrike">
                <a:solidFill>
                  <a:srgbClr val="0B1E3D"/>
                </a:solidFill>
                <a:latin typeface="Arial"/>
              </a:rPr>
              <a:t>No-Show Rate by Booking Lead Time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%</c:v>
                </c:pt>
              </c:strCache>
            </c:strRef>
          </c:tx>
          <c:spPr>
            <a:solidFill>
              <a:srgbClr val="1A734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72F-4068-806B-A1D07BB8F7E6}"/>
              </c:ext>
            </c:extLst>
          </c:dPt>
          <c:dPt>
            <c:idx val="1"/>
            <c:invertIfNegative val="0"/>
            <c:bubble3D val="0"/>
            <c:spPr>
              <a:solidFill>
                <a:srgbClr val="1A5C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72F-4068-806B-A1D07BB8F7E6}"/>
              </c:ext>
            </c:extLst>
          </c:dPt>
          <c:dPt>
            <c:idx val="2"/>
            <c:invertIfNegative val="0"/>
            <c:bubble3D val="0"/>
            <c:spPr>
              <a:solidFill>
                <a:srgbClr val="C886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72F-4068-806B-A1D07BB8F7E6}"/>
              </c:ext>
            </c:extLst>
          </c:dPt>
          <c:dPt>
            <c:idx val="3"/>
            <c:invertIfNegative val="0"/>
            <c:bubble3D val="0"/>
            <c:spPr>
              <a:solidFill>
                <a:srgbClr val="D44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72F-4068-806B-A1D07BB8F7E6}"/>
              </c:ext>
            </c:extLst>
          </c:dPt>
          <c:dPt>
            <c:idx val="4"/>
            <c:invertIfNegative val="0"/>
            <c:bubble3D val="0"/>
            <c:spPr>
              <a:solidFill>
                <a:srgbClr val="B03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72F-4068-806B-A1D07BB8F7E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Same-week</c:v>
                </c:pt>
                <c:pt idx="1">
                  <c:v>1 week</c:v>
                </c:pt>
                <c:pt idx="2">
                  <c:v>2 weeks</c:v>
                </c:pt>
                <c:pt idx="3">
                  <c:v>1 month</c:v>
                </c:pt>
                <c:pt idx="4">
                  <c:v>30+ days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11.2</c:v>
                </c:pt>
                <c:pt idx="1">
                  <c:v>14.8</c:v>
                </c:pt>
                <c:pt idx="2">
                  <c:v>18.3</c:v>
                </c:pt>
                <c:pt idx="3">
                  <c:v>22.7</c:v>
                </c:pt>
                <c:pt idx="4">
                  <c:v>28.4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72F-4068-806B-A1D07BB8F7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B1E3D"/>
                </a:solidFill>
                <a:latin typeface="Arial"/>
              </a:defRPr>
            </a:pPr>
            <a:r>
              <a:rPr lang="en-GB" sz="1200" b="1" i="0" u="none" strike="noStrike">
                <a:solidFill>
                  <a:srgbClr val="0B1E3D"/>
                </a:solidFill>
                <a:latin typeface="Arial"/>
              </a:rPr>
              <a:t>No-Show Rate by Insurance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%</c:v>
                </c:pt>
              </c:strCache>
            </c:strRef>
          </c:tx>
          <c:spPr>
            <a:solidFill>
              <a:srgbClr val="1A5C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A83-483D-8386-1F046F58372B}"/>
              </c:ext>
            </c:extLst>
          </c:dPt>
          <c:dPt>
            <c:idx val="1"/>
            <c:invertIfNegative val="0"/>
            <c:bubble3D val="0"/>
            <c:spPr>
              <a:solidFill>
                <a:srgbClr val="B03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83-483D-8386-1F046F58372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With Insurance</c:v>
                </c:pt>
                <c:pt idx="1">
                  <c:v>No Insurance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16.399999999999999</c:v>
                </c:pt>
                <c:pt idx="1">
                  <c:v>27.9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A83-483D-8386-1F046F5837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66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1F3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6217920" y="0"/>
            <a:ext cx="45720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6400800" y="457200"/>
            <a:ext cx="256032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6400800" y="1234440"/>
            <a:ext cx="256032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256032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6400800" y="2788920"/>
            <a:ext cx="256032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6400800" y="3566160"/>
            <a:ext cx="256032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6400800" y="4343400"/>
            <a:ext cx="256032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6309360" y="502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0936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16184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2029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273405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607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31455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Flagged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384962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635K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9360" y="42611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82296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Operations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02920" y="150876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02920" y="2304288"/>
            <a:ext cx="411480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50292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weekly reporting · Multi-source reconciliation · Excel automation · Google Sheets integration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Jomi Jose  |  Data &amp; Operations Executive  |  Dubai, UAE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openpyxl  ·  SQL  ·  Google Sheets API  ·  Pandas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 · Jun 2023 – Dec 2024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54864" cy="1005840"/>
          </a:xfrm>
          <a:prstGeom prst="rect">
            <a:avLst/>
          </a:prstGeom>
          <a:solidFill>
            <a:srgbClr val="1A5C9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178308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609344"/>
            <a:ext cx="178308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Appointments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14016" y="100584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2414016" y="1005840"/>
            <a:ext cx="54864" cy="1005840"/>
          </a:xfrm>
          <a:prstGeom prst="rect">
            <a:avLst/>
          </a:prstGeom>
          <a:solidFill>
            <a:srgbClr val="1A734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2578608" y="1115568"/>
            <a:ext cx="178308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78608" y="1609344"/>
            <a:ext cx="178308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100584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4626864" y="1005840"/>
            <a:ext cx="54864" cy="100584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4791456" y="1115568"/>
            <a:ext cx="178308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91456" y="1609344"/>
            <a:ext cx="178308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39712" y="100584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6839712" y="1005840"/>
            <a:ext cx="54864" cy="10058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7004304" y="1115568"/>
            <a:ext cx="178308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635K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004304" y="1609344"/>
            <a:ext cx="178308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" y="2194560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201168" y="2194560"/>
            <a:ext cx="54864" cy="914400"/>
          </a:xfrm>
          <a:prstGeom prst="rect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365760" y="230428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65760" y="27432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14016" y="2194560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7" name="Shape 25"/>
          <p:cNvSpPr/>
          <p:nvPr/>
        </p:nvSpPr>
        <p:spPr>
          <a:xfrm>
            <a:off x="2414016" y="2194560"/>
            <a:ext cx="54864" cy="914400"/>
          </a:xfrm>
          <a:prstGeom prst="rect">
            <a:avLst/>
          </a:prstGeom>
          <a:solidFill>
            <a:srgbClr val="D4400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2578608" y="230428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607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578608" y="27432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Issues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26864" y="2194560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1" name="Shape 29"/>
          <p:cNvSpPr/>
          <p:nvPr/>
        </p:nvSpPr>
        <p:spPr>
          <a:xfrm>
            <a:off x="4626864" y="2194560"/>
            <a:ext cx="54864" cy="914400"/>
          </a:xfrm>
          <a:prstGeom prst="rect">
            <a:avLst/>
          </a:prstGeom>
          <a:solidFill>
            <a:srgbClr val="B0303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4791456" y="230428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791456" y="27432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Gaps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39712" y="2194560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5" name="Shape 33"/>
          <p:cNvSpPr/>
          <p:nvPr/>
        </p:nvSpPr>
        <p:spPr>
          <a:xfrm>
            <a:off x="6839712" y="2194560"/>
            <a:ext cx="54864" cy="9144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6" name="Text 34"/>
          <p:cNvSpPr/>
          <p:nvPr/>
        </p:nvSpPr>
        <p:spPr>
          <a:xfrm>
            <a:off x="7004304" y="230428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004304" y="27432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Members Tracked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" y="3291840"/>
            <a:ext cx="8741664" cy="1554480"/>
          </a:xfrm>
          <a:prstGeom prst="rect">
            <a:avLst/>
          </a:prstGeom>
          <a:solidFill>
            <a:srgbClr val="0B1E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9" name="Shape 37"/>
          <p:cNvSpPr/>
          <p:nvPr/>
        </p:nvSpPr>
        <p:spPr>
          <a:xfrm>
            <a:off x="201168" y="3291840"/>
            <a:ext cx="54864" cy="15544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0" name="Text 38"/>
          <p:cNvSpPr/>
          <p:nvPr/>
        </p:nvSpPr>
        <p:spPr>
          <a:xfrm>
            <a:off x="384048" y="3364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84048" y="3703320"/>
            <a:ext cx="8321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of 20.3% represents significant revenue leakage — targeted proactive outreach can reduce this by 15-20%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607 reconciliation issues detected across CRM and OPS systems — 112 are CRM sync gaps requiring immediate investigation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patients are overdue for follow-up contact — the automated action list prioritises these by days since visit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Appointment &amp; Revenue Trend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2023 – Dec 2024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96012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669280" y="960120"/>
          <a:ext cx="3200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Specialty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No-Show Rate · Volume Breakdown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960120"/>
          <a:ext cx="53035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274320" y="3566160"/>
          <a:ext cx="530352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2"/>
          <p:cNvGraphicFramePr/>
          <p:nvPr/>
        </p:nvGraphicFramePr>
        <p:xfrm>
          <a:off x="5669280" y="960120"/>
          <a:ext cx="32004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Performance League Table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· Escalations · Follow-Up Completion · 84 Weeks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960120"/>
          <a:ext cx="49377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394960" y="1051560"/>
            <a:ext cx="228600" cy="201168"/>
          </a:xfrm>
          <a:prstGeom prst="rect">
            <a:avLst/>
          </a:prstGeom>
          <a:solidFill>
            <a:srgbClr val="1A734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5"/>
          <p:cNvSpPr/>
          <p:nvPr/>
        </p:nvSpPr>
        <p:spPr>
          <a:xfrm>
            <a:off x="5687568" y="1024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— Meeting target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94960" y="1399032"/>
            <a:ext cx="228600" cy="201168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7"/>
          <p:cNvSpPr/>
          <p:nvPr/>
        </p:nvSpPr>
        <p:spPr>
          <a:xfrm>
            <a:off x="5687568" y="13716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80–89% — Needs attention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1746504"/>
            <a:ext cx="228600" cy="201168"/>
          </a:xfrm>
          <a:prstGeom prst="rect">
            <a:avLst/>
          </a:prstGeom>
          <a:solidFill>
            <a:srgbClr val="B0303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9"/>
          <p:cNvSpPr/>
          <p:nvPr/>
        </p:nvSpPr>
        <p:spPr>
          <a:xfrm>
            <a:off x="5687568" y="17190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80% — Underperforming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94960" y="2194560"/>
            <a:ext cx="1645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Shape 11"/>
          <p:cNvSpPr/>
          <p:nvPr/>
        </p:nvSpPr>
        <p:spPr>
          <a:xfrm>
            <a:off x="5394960" y="2194560"/>
            <a:ext cx="54864" cy="10058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2"/>
          <p:cNvSpPr/>
          <p:nvPr/>
        </p:nvSpPr>
        <p:spPr>
          <a:xfrm>
            <a:off x="5559552" y="2304288"/>
            <a:ext cx="141732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559552" y="2798064"/>
            <a:ext cx="141732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Follow-Ups / Week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78040" y="2194560"/>
            <a:ext cx="1645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5"/>
          <p:cNvSpPr/>
          <p:nvPr/>
        </p:nvSpPr>
        <p:spPr>
          <a:xfrm>
            <a:off x="7178040" y="2194560"/>
            <a:ext cx="54864" cy="100584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6"/>
          <p:cNvSpPr/>
          <p:nvPr/>
        </p:nvSpPr>
        <p:spPr>
          <a:xfrm>
            <a:off x="7342632" y="2304288"/>
            <a:ext cx="141732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7342632" y="2798064"/>
            <a:ext cx="141732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Escalations / Week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394960" y="3383280"/>
            <a:ext cx="1645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hape 19"/>
          <p:cNvSpPr/>
          <p:nvPr/>
        </p:nvSpPr>
        <p:spPr>
          <a:xfrm>
            <a:off x="5394960" y="3383280"/>
            <a:ext cx="54864" cy="1005840"/>
          </a:xfrm>
          <a:prstGeom prst="rect">
            <a:avLst/>
          </a:prstGeom>
          <a:solidFill>
            <a:srgbClr val="1A5C9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Text 20"/>
          <p:cNvSpPr/>
          <p:nvPr/>
        </p:nvSpPr>
        <p:spPr>
          <a:xfrm>
            <a:off x="5806440" y="3711279"/>
            <a:ext cx="141732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2800" b="1" dirty="0">
              <a:solidFill>
                <a:srgbClr val="0B1E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800" b="1" dirty="0">
              <a:solidFill>
                <a:srgbClr val="0B1E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800" b="1" dirty="0">
              <a:solidFill>
                <a:srgbClr val="0B1E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800" b="1" dirty="0">
              <a:solidFill>
                <a:srgbClr val="0B1E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800" b="1" dirty="0">
              <a:solidFill>
                <a:srgbClr val="0B1E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800" b="1" dirty="0">
              <a:solidFill>
                <a:srgbClr val="0B1E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800" b="1" dirty="0">
              <a:solidFill>
                <a:srgbClr val="0B1E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 min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5617633" y="4098341"/>
            <a:ext cx="141732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Handle Time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178040" y="3383280"/>
            <a:ext cx="1645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6" name="Shape 23"/>
          <p:cNvSpPr/>
          <p:nvPr/>
        </p:nvSpPr>
        <p:spPr>
          <a:xfrm>
            <a:off x="7178040" y="3383280"/>
            <a:ext cx="54864" cy="1005840"/>
          </a:xfrm>
          <a:prstGeom prst="rect">
            <a:avLst/>
          </a:prstGeom>
          <a:solidFill>
            <a:srgbClr val="1A734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4"/>
          <p:cNvSpPr/>
          <p:nvPr/>
        </p:nvSpPr>
        <p:spPr>
          <a:xfrm>
            <a:off x="7342632" y="3493008"/>
            <a:ext cx="141732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88.4%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7342632" y="3986784"/>
            <a:ext cx="141732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Avg SLA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394960" y="4572000"/>
            <a:ext cx="3429000" cy="411480"/>
          </a:xfrm>
          <a:prstGeom prst="rect">
            <a:avLst/>
          </a:prstGeom>
          <a:solidFill>
            <a:srgbClr val="FEF9E7"/>
          </a:solidFill>
          <a:ln w="635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7"/>
          <p:cNvSpPr/>
          <p:nvPr/>
        </p:nvSpPr>
        <p:spPr>
          <a:xfrm>
            <a:off x="5486400" y="45720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Staff_20 SLA at 78.5% — below 80% threshold. Recommend performance review.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Reconciliation Report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Export vs Operational Log — 4,000 Records Compared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828800" cy="2011680"/>
          </a:xfrm>
          <a:prstGeom prst="rect">
            <a:avLst/>
          </a:prstGeom>
          <a:solidFill>
            <a:srgbClr val="0B1E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607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Issues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4,000 records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960120"/>
            <a:ext cx="3200400" cy="1920240"/>
          </a:xfrm>
          <a:prstGeom prst="rect">
            <a:avLst/>
          </a:prstGeom>
          <a:solidFill>
            <a:srgbClr val="FDEDEC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2286000" y="960120"/>
            <a:ext cx="64008" cy="1920240"/>
          </a:xfrm>
          <a:prstGeom prst="rect">
            <a:avLst/>
          </a:prstGeom>
          <a:solidFill>
            <a:srgbClr val="B0303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2468880" y="106984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6888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67.4% of total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Gaps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286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appointments with no reminder sent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960120"/>
            <a:ext cx="3200400" cy="1920240"/>
          </a:xfrm>
          <a:prstGeom prst="rect">
            <a:avLst/>
          </a:prstGeom>
          <a:solidFill>
            <a:srgbClr val="FEF9E7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5669280" y="960120"/>
            <a:ext cx="64008" cy="192024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5852160" y="106984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85216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18.5% of total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CRM Status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2286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updated in OPS but not synced to CRM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0" y="3108960"/>
            <a:ext cx="3200400" cy="1920240"/>
          </a:xfrm>
          <a:prstGeom prst="rect">
            <a:avLst/>
          </a:prstGeom>
          <a:solidFill>
            <a:srgbClr val="D6EAF8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2286000" y="3108960"/>
            <a:ext cx="64008" cy="1920240"/>
          </a:xfrm>
          <a:prstGeom prst="rect">
            <a:avLst/>
          </a:prstGeom>
          <a:solidFill>
            <a:srgbClr val="1A5C9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2468880" y="321868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2468880" y="3840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 of total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68880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Discrepancy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4434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amounts differ between CRM and OPS by &gt;AED 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3108960"/>
            <a:ext cx="3200400" cy="1920240"/>
          </a:xfrm>
          <a:prstGeom prst="rect">
            <a:avLst/>
          </a:prstGeom>
          <a:solidFill>
            <a:srgbClr val="D5F5E3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9" name="Shape 27"/>
          <p:cNvSpPr/>
          <p:nvPr/>
        </p:nvSpPr>
        <p:spPr>
          <a:xfrm>
            <a:off x="5669280" y="3108960"/>
            <a:ext cx="64008" cy="1920240"/>
          </a:xfrm>
          <a:prstGeom prst="rect">
            <a:avLst/>
          </a:prstGeom>
          <a:solidFill>
            <a:srgbClr val="1A734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5852160" y="321868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852160" y="3840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1.6% of total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Conflicts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52160" y="4434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 with 2+ completed appointments on same day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actions: Investigate CRM sync lag  ·  Review revenue rounding rules  ·  Assign follow-up calls  ·  Resolve scheduling conflicts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Lead Time · By Insurance · By Specialty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96012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480560" y="960120"/>
          <a:ext cx="23774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6949440" y="96012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Shape 5"/>
          <p:cNvSpPr/>
          <p:nvPr/>
        </p:nvSpPr>
        <p:spPr>
          <a:xfrm>
            <a:off x="6949440" y="960120"/>
            <a:ext cx="54864" cy="1188720"/>
          </a:xfrm>
          <a:prstGeom prst="rect">
            <a:avLst/>
          </a:prstGeom>
          <a:solidFill>
            <a:srgbClr val="B0303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6"/>
          <p:cNvSpPr/>
          <p:nvPr/>
        </p:nvSpPr>
        <p:spPr>
          <a:xfrm>
            <a:off x="7114032" y="10058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28.4%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114032" y="14173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day bookings no-show rate — 2.5x higher than same-week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949440" y="2313432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Shape 9"/>
          <p:cNvSpPr/>
          <p:nvPr/>
        </p:nvSpPr>
        <p:spPr>
          <a:xfrm>
            <a:off x="6949440" y="2313432"/>
            <a:ext cx="54864" cy="118872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0"/>
          <p:cNvSpPr/>
          <p:nvPr/>
        </p:nvSpPr>
        <p:spPr>
          <a:xfrm>
            <a:off x="7114032" y="235915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27.9%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114032" y="277063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Uninsured patients no-show rate — vs 16.4% insured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949440" y="3666744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Shape 13"/>
          <p:cNvSpPr/>
          <p:nvPr/>
        </p:nvSpPr>
        <p:spPr>
          <a:xfrm>
            <a:off x="6949440" y="3666744"/>
            <a:ext cx="54864" cy="1188720"/>
          </a:xfrm>
          <a:prstGeom prst="rect">
            <a:avLst/>
          </a:prstGeom>
          <a:solidFill>
            <a:srgbClr val="1A734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4"/>
          <p:cNvSpPr/>
          <p:nvPr/>
        </p:nvSpPr>
        <p:spPr>
          <a:xfrm>
            <a:off x="7114032" y="3712464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7114032" y="4123944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Same-week bookings — lowest risk, suggest call day before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0B1E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Text 17"/>
          <p:cNvSpPr/>
          <p:nvPr/>
        </p:nvSpPr>
        <p:spPr>
          <a:xfrm>
            <a:off x="457200" y="42519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Prioritise proactive outreach for appointments booked 14+ days ahead with uninsured patients. Automate reminder escalation via WhatsApp for this segment.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Action List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Most Overdue Patients — Sorted by Days Since Visit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60120"/>
          <a:ext cx="7498080" cy="3822192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Appt ID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Specialty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Visit Date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 Since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A04589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Mohammed Al Rashid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Cardiology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2023-10-14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540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WhatsApp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03030"/>
                          </a:solidFill>
                        </a:rPr>
                        <a:t>URGENT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A00684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Sara Khan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Dermatology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2023-10-22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532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Email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03030"/>
                          </a:solidFill>
                        </a:rPr>
                        <a:t>URGENT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A04005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Ali Sharma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2023-10-21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533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SMS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03030"/>
                          </a:solidFill>
                        </a:rPr>
                        <a:t>URGENT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A01796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Fatima Al Zaabi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General Practice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2023-10-24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530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Phone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03030"/>
                          </a:solidFill>
                        </a:rPr>
                        <a:t>URGENT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A03089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Ahmed Patel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Cardiology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2023-12-09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484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WhatsApp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860A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A04802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Priya Nair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Pediatrics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2024-07-08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240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Email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860A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A02810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John Smith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Orthopedics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2024-07-12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236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WhatsApp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860A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A01023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Maria Santos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Gynecology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2024-08-01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216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SMS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7340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A03341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Omar Hassan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2024-08-15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Email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7340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A02156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Aisha Al Mansoori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Cardiology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2024-09-01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185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WhatsApp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7340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Pipeline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Live Reports — One Command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554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1554480" cy="457200"/>
          </a:xfrm>
          <a:prstGeom prst="rect">
            <a:avLst/>
          </a:prstGeom>
          <a:solidFill>
            <a:srgbClr val="1A5C9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generate_data.py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20848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patients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25420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appts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29992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staff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34564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OPS exports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47088" y="2606040"/>
            <a:ext cx="146304" cy="0"/>
          </a:xfrm>
          <a:prstGeom prst="line">
            <a:avLst/>
          </a:prstGeom>
          <a:noFill/>
          <a:ln w="2540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1865376" y="24871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11680" y="1005840"/>
            <a:ext cx="1554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2011680" y="1005840"/>
            <a:ext cx="1554480" cy="4572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2011680" y="1005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57400" y="1508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clean_transform.py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84832" y="20848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84832" y="25420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84832" y="29992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summaries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84832" y="34564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aggregation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84448" y="2606040"/>
            <a:ext cx="146304" cy="0"/>
          </a:xfrm>
          <a:prstGeom prst="line">
            <a:avLst/>
          </a:prstGeom>
          <a:noFill/>
          <a:ln w="2540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3602736" y="24871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49040" y="1005840"/>
            <a:ext cx="1554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7" name="Shape 25"/>
          <p:cNvSpPr/>
          <p:nvPr/>
        </p:nvSpPr>
        <p:spPr>
          <a:xfrm>
            <a:off x="3749040" y="1005840"/>
            <a:ext cx="1554480" cy="457200"/>
          </a:xfrm>
          <a:prstGeom prst="rect">
            <a:avLst/>
          </a:prstGeom>
          <a:solidFill>
            <a:srgbClr val="6B2D8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3749040" y="1005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794760" y="1508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reconcile.py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22192" y="20848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Anti-join pattern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22192" y="25420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tolerance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22192" y="29992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22192" y="34564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output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21808" y="2606040"/>
            <a:ext cx="146304" cy="0"/>
          </a:xfrm>
          <a:prstGeom prst="line">
            <a:avLst/>
          </a:prstGeom>
          <a:noFill/>
          <a:ln w="2540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5340096" y="24871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0" y="1005840"/>
            <a:ext cx="1554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7" name="Shape 35"/>
          <p:cNvSpPr/>
          <p:nvPr/>
        </p:nvSpPr>
        <p:spPr>
          <a:xfrm>
            <a:off x="5486400" y="1005840"/>
            <a:ext cx="1554480" cy="457200"/>
          </a:xfrm>
          <a:prstGeom prst="rect">
            <a:avLst/>
          </a:prstGeom>
          <a:solidFill>
            <a:srgbClr val="1A734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8" name="Text 36"/>
          <p:cNvSpPr/>
          <p:nvPr/>
        </p:nvSpPr>
        <p:spPr>
          <a:xfrm>
            <a:off x="5486400" y="1005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532120" y="1508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generate_excel.py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59552" y="20848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4-sheet .xlsx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59552" y="25420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59552" y="29992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bars + charts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59552" y="34564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column widths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059168" y="2606040"/>
            <a:ext cx="146304" cy="0"/>
          </a:xfrm>
          <a:prstGeom prst="line">
            <a:avLst/>
          </a:prstGeom>
          <a:noFill/>
          <a:ln w="2540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Text 43"/>
          <p:cNvSpPr/>
          <p:nvPr/>
        </p:nvSpPr>
        <p:spPr>
          <a:xfrm>
            <a:off x="7077456" y="24871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223760" y="1005840"/>
            <a:ext cx="1554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7" name="Shape 45"/>
          <p:cNvSpPr/>
          <p:nvPr/>
        </p:nvSpPr>
        <p:spPr>
          <a:xfrm>
            <a:off x="7223760" y="1005840"/>
            <a:ext cx="1554480" cy="45720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8" name="Text 46"/>
          <p:cNvSpPr/>
          <p:nvPr/>
        </p:nvSpPr>
        <p:spPr>
          <a:xfrm>
            <a:off x="7223760" y="1005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269480" y="1508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export_to_sheets.py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296912" y="20848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API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96912" y="25420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KPI tab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96912" y="29992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tab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96912" y="345643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tab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5" name="Text 53"/>
          <p:cNvSpPr/>
          <p:nvPr/>
        </p:nvSpPr>
        <p:spPr>
          <a:xfrm>
            <a:off x="320040" y="43708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Excel Report (.xlsx)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984248" y="4407408"/>
            <a:ext cx="0" cy="438912"/>
          </a:xfrm>
          <a:prstGeom prst="line">
            <a:avLst/>
          </a:prstGeom>
          <a:noFill/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7" name="Text 55"/>
          <p:cNvSpPr/>
          <p:nvPr/>
        </p:nvSpPr>
        <p:spPr>
          <a:xfrm>
            <a:off x="2029968" y="43708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Reconciliation CSV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94176" y="4407408"/>
            <a:ext cx="0" cy="438912"/>
          </a:xfrm>
          <a:prstGeom prst="line">
            <a:avLst/>
          </a:prstGeom>
          <a:noFill/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9" name="Text 57"/>
          <p:cNvSpPr/>
          <p:nvPr/>
        </p:nvSpPr>
        <p:spPr>
          <a:xfrm>
            <a:off x="3739896" y="43708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Management Summary (.txt)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04104" y="4407408"/>
            <a:ext cx="0" cy="438912"/>
          </a:xfrm>
          <a:prstGeom prst="line">
            <a:avLst/>
          </a:prstGeom>
          <a:noFill/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1" name="Text 59"/>
          <p:cNvSpPr/>
          <p:nvPr/>
        </p:nvSpPr>
        <p:spPr>
          <a:xfrm>
            <a:off x="5449824" y="43708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Google Sheets (live)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114032" y="4407408"/>
            <a:ext cx="0" cy="438912"/>
          </a:xfrm>
          <a:prstGeom prst="line">
            <a:avLst/>
          </a:prstGeom>
          <a:noFill/>
          <a:ln w="635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3" name="Text 61"/>
          <p:cNvSpPr/>
          <p:nvPr/>
        </p:nvSpPr>
        <p:spPr>
          <a:xfrm>
            <a:off x="7159752" y="43708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CSV Backups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Skills Demonstrated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JD Requirement — Evidenced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54864" cy="1170432"/>
          </a:xfrm>
          <a:prstGeom prst="rect">
            <a:avLst/>
          </a:prstGeom>
          <a:solidFill>
            <a:srgbClr val="1A5C9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420624" y="10789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" y="14081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transformation, aggregation, pipeline automation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" y="1874520"/>
            <a:ext cx="3840480" cy="219456"/>
          </a:xfrm>
          <a:prstGeom prst="rect">
            <a:avLst/>
          </a:prstGeom>
          <a:solidFill>
            <a:srgbClr val="EFF3F8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66344" y="18745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requirement: Python for data handling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45152" y="1005840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4645152" y="1005840"/>
            <a:ext cx="54864" cy="117043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4809744" y="10789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9744" y="14081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Excel report generation — 4 sheets, conditional formatting, charts, borders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9744" y="1874520"/>
            <a:ext cx="3840480" cy="219456"/>
          </a:xfrm>
          <a:prstGeom prst="rect">
            <a:avLst/>
          </a:prstGeom>
          <a:solidFill>
            <a:srgbClr val="EFF3F8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4855464" y="18745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requirement: Advanced Excel formulas &amp; reporting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304288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256032" y="2304288"/>
            <a:ext cx="54864" cy="1170432"/>
          </a:xfrm>
          <a:prstGeom prst="rect">
            <a:avLst/>
          </a:prstGeom>
          <a:solidFill>
            <a:srgbClr val="6B2D8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420624" y="2377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(MySQL)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0624" y="27066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design, 7 operational queries — HAVING, CASE WHEN, YEARWEEK, anti-join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" y="3172968"/>
            <a:ext cx="3840480" cy="219456"/>
          </a:xfrm>
          <a:prstGeom prst="rect">
            <a:avLst/>
          </a:prstGeom>
          <a:solidFill>
            <a:srgbClr val="EFF3F8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466344" y="317296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requirement: SQL queries &amp; data extraction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45152" y="2304288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5" name="Shape 23"/>
          <p:cNvSpPr/>
          <p:nvPr/>
        </p:nvSpPr>
        <p:spPr>
          <a:xfrm>
            <a:off x="4645152" y="2304288"/>
            <a:ext cx="54864" cy="1170432"/>
          </a:xfrm>
          <a:prstGeom prst="rect">
            <a:avLst/>
          </a:prstGeom>
          <a:solidFill>
            <a:srgbClr val="1A734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4809744" y="2377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9744" y="27066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live reporting via gspread — 3 tabs updated on every pipeline run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9744" y="3172968"/>
            <a:ext cx="3840480" cy="219456"/>
          </a:xfrm>
          <a:prstGeom prst="rect">
            <a:avLst/>
          </a:prstGeom>
          <a:solidFill>
            <a:srgbClr val="EFF3F8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4855464" y="317296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requirement: Google Sheets advanced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602736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1" name="Shape 29"/>
          <p:cNvSpPr/>
          <p:nvPr/>
        </p:nvSpPr>
        <p:spPr>
          <a:xfrm>
            <a:off x="256032" y="3602736"/>
            <a:ext cx="54864" cy="1170432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420624" y="36758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Reconciliation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0624" y="40050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vs OPS comparison — 4 issue types, tolerance logic, dual output format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0624" y="4471416"/>
            <a:ext cx="3840480" cy="219456"/>
          </a:xfrm>
          <a:prstGeom prst="rect">
            <a:avLst/>
          </a:prstGeom>
          <a:solidFill>
            <a:srgbClr val="EFF3F8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466344" y="447141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requirement: Data accuracy &amp; validation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45152" y="3602736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7" name="Shape 35"/>
          <p:cNvSpPr/>
          <p:nvPr/>
        </p:nvSpPr>
        <p:spPr>
          <a:xfrm>
            <a:off x="4645152" y="3602736"/>
            <a:ext cx="54864" cy="1170432"/>
          </a:xfrm>
          <a:prstGeom prst="rect">
            <a:avLst/>
          </a:prstGeom>
          <a:solidFill>
            <a:srgbClr val="B0303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8" name="Text 36"/>
          <p:cNvSpPr/>
          <p:nvPr/>
        </p:nvSpPr>
        <p:spPr>
          <a:xfrm>
            <a:off x="4809744" y="36758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9744" y="40050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public portfolio, README with pipeline documentation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9744" y="4471416"/>
            <a:ext cx="3840480" cy="219456"/>
          </a:xfrm>
          <a:prstGeom prst="rect">
            <a:avLst/>
          </a:prstGeom>
          <a:solidFill>
            <a:srgbClr val="EFF3F8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/>
          <p:nvPr/>
        </p:nvSpPr>
        <p:spPr>
          <a:xfrm>
            <a:off x="4855464" y="447141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requirement: Professional standards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Operations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Automation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2029968"/>
            <a:ext cx="411480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53035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Python pipeline — fully automated, zero manual steps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reconciliation — 607 issues detected across 4,000 records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Excel report — 4 sheets with conditional formatting and charts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live integration — weekly updates via gspread API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SQL queries — schema design through operational reporting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evidences every technical requirement in the job description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914400"/>
            <a:ext cx="2743200" cy="3291840"/>
          </a:xfrm>
          <a:prstGeom prst="rect">
            <a:avLst/>
          </a:prstGeom>
          <a:solidFill>
            <a:srgbClr val="0D1F3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6126480" y="914400"/>
            <a:ext cx="2743200" cy="5486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6263640" y="1051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Jomi Jose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6364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Operations Executive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Dubai, UAE  |  Available Immediately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63640" y="2148840"/>
            <a:ext cx="233172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6263640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+971 58 974 9828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26700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jomilibin10@gmail.com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30540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linkedin.com/in/jomijose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343814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github.com/jomijose14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49884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Jomi Jose  |  Healthcare Operations Reporting Automation  |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945</Words>
  <Application>Microsoft Office PowerPoint</Application>
  <PresentationFormat>On-screen Show (16:9)</PresentationFormat>
  <Paragraphs>276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Operations Dashboard</dc:title>
  <dc:subject>PptxGenJS Presentation</dc:subject>
  <dc:creator>Jomi Jose</dc:creator>
  <cp:lastModifiedBy>jomi jose</cp:lastModifiedBy>
  <cp:revision>2</cp:revision>
  <dcterms:created xsi:type="dcterms:W3CDTF">2026-04-14T16:05:12Z</dcterms:created>
  <dcterms:modified xsi:type="dcterms:W3CDTF">2026-04-14T16:18:57Z</dcterms:modified>
</cp:coreProperties>
</file>